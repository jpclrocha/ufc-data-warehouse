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jpe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7677" y="493812"/>
            <a:ext cx="9804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IFAL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7127677" y="615255"/>
            <a:ext cx="98048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de Informação</a:t>
            </a:r>
            <a:endParaRPr lang="en-US" sz="621" dirty="0"/>
          </a:p>
        </p:txBody>
      </p:sp>
      <p:sp>
        <p:nvSpPr>
          <p:cNvPr id="5" name="Shape 2"/>
          <p:cNvSpPr/>
          <p:nvPr/>
        </p:nvSpPr>
        <p:spPr>
          <a:xfrm>
            <a:off x="8215313" y="428625"/>
            <a:ext cx="357188" cy="357188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181" y="52149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769962"/>
            <a:ext cx="642937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Warehouse Aplicado ao UFC: Análise dos Fatores Técnicos Associados à Vitória</a:t>
            </a:r>
            <a:endParaRPr lang="en-US" sz="3294" dirty="0"/>
          </a:p>
        </p:txBody>
      </p:sp>
      <p:sp>
        <p:nvSpPr>
          <p:cNvPr id="8" name="Text 4"/>
          <p:cNvSpPr/>
          <p:nvPr/>
        </p:nvSpPr>
        <p:spPr>
          <a:xfrm>
            <a:off x="571500" y="2953048"/>
            <a:ext cx="5715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Identificando padrões estatísticos entre desempenho técnico e resultados de lutas (1993–2026)</a:t>
            </a:r>
            <a:endParaRPr lang="en-US" sz="1704" dirty="0"/>
          </a:p>
        </p:txBody>
      </p:sp>
      <p:sp>
        <p:nvSpPr>
          <p:cNvPr id="9" name="Shape 5"/>
          <p:cNvSpPr/>
          <p:nvPr/>
        </p:nvSpPr>
        <p:spPr>
          <a:xfrm>
            <a:off x="571500" y="3735958"/>
            <a:ext cx="4822031" cy="766167"/>
          </a:xfrm>
          <a:prstGeom prst="rect">
            <a:avLst/>
          </a:prstGeom>
          <a:solidFill>
            <a:srgbClr val="1E293B">
              <a:alpha val="6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3835078"/>
            <a:ext cx="171450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7263" y="3828827"/>
            <a:ext cx="2787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Autor: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João Pedro de Castro Laranjeira Rocha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4047604"/>
            <a:ext cx="171450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7263" y="4041353"/>
            <a:ext cx="28682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Instituto Federal de Alagoas — Campus Maceió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8" y="4260131"/>
            <a:ext cx="171450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7263" y="4253880"/>
            <a:ext cx="42933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Tópicos Avançados de Banco de Dados — Prof. Luiz Frederico | 2026.1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UFC gera um dos maiores acervos de dados de combate do mundo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505880"/>
            <a:ext cx="4417209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000"/>
              </a:lnSpc>
              <a:buNone/>
            </a:pPr>
            <a:r>
              <a:rPr lang="en-US" sz="1159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Ultimate Fighting Championship (UFC) é a maior organização de MMA do mundo. Desde 1993, acumulou um extenso histórico de eventos, gerando métricas detalhadas que permitem análises profundas de desempenho.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571500" y="3048902"/>
            <a:ext cx="2137153" cy="75545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14375" y="3248034"/>
            <a:ext cx="342900" cy="3429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17" y="3348047"/>
            <a:ext cx="12501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1575" y="3191777"/>
            <a:ext cx="907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Striking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1171575" y="3375729"/>
            <a:ext cx="9072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de golpes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1171575" y="3525748"/>
            <a:ext cx="9072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significativos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2851528" y="3048902"/>
            <a:ext cx="2137181" cy="741164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2994403" y="3248034"/>
            <a:ext cx="342900" cy="3429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486" y="3348047"/>
            <a:ext cx="160734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1603" y="3266787"/>
            <a:ext cx="1178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Grappling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3451603" y="3450738"/>
            <a:ext cx="11787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em takedowns</a:t>
            </a:r>
            <a:endParaRPr lang="en-US" sz="727" dirty="0"/>
          </a:p>
        </p:txBody>
      </p:sp>
      <p:sp>
        <p:nvSpPr>
          <p:cNvPr id="18" name="Shape 13"/>
          <p:cNvSpPr/>
          <p:nvPr/>
        </p:nvSpPr>
        <p:spPr>
          <a:xfrm>
            <a:off x="571500" y="3932941"/>
            <a:ext cx="2137153" cy="6429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714375" y="4082960"/>
            <a:ext cx="342900" cy="3429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28" y="4182973"/>
            <a:ext cx="178594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1575" y="4101712"/>
            <a:ext cx="11608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Físico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1171575" y="4285664"/>
            <a:ext cx="11608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(Reach) e altura</a:t>
            </a:r>
            <a:endParaRPr lang="en-US" sz="727" dirty="0"/>
          </a:p>
        </p:txBody>
      </p:sp>
      <p:sp>
        <p:nvSpPr>
          <p:cNvPr id="23" name="Shape 17"/>
          <p:cNvSpPr/>
          <p:nvPr/>
        </p:nvSpPr>
        <p:spPr>
          <a:xfrm>
            <a:off x="2851528" y="3932941"/>
            <a:ext cx="2137181" cy="6429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2994403" y="4075816"/>
            <a:ext cx="342900" cy="3429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486" y="4175829"/>
            <a:ext cx="16073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51603" y="4094569"/>
            <a:ext cx="1275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3451603" y="4278520"/>
            <a:ext cx="1275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de vitória e rounds</a:t>
            </a:r>
            <a:endParaRPr lang="en-US" sz="727" dirty="0"/>
          </a:p>
        </p:txBody>
      </p:sp>
      <p:sp>
        <p:nvSpPr>
          <p:cNvPr id="28" name="Shape 21"/>
          <p:cNvSpPr/>
          <p:nvPr/>
        </p:nvSpPr>
        <p:spPr>
          <a:xfrm>
            <a:off x="5417334" y="2174546"/>
            <a:ext cx="3155138" cy="1871663"/>
          </a:xfrm>
          <a:prstGeom prst="rect">
            <a:avLst/>
          </a:prstGeom>
          <a:solidFill>
            <a:srgbClr val="0F172A">
              <a:alpha val="9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5631647" y="2081678"/>
            <a:ext cx="1328738" cy="135731"/>
          </a:xfrm>
          <a:prstGeom prst="rect">
            <a:avLst/>
          </a:prstGeom>
          <a:solidFill>
            <a:srgbClr val="0F172A"/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5631647" y="2081678"/>
            <a:ext cx="1328738" cy="1357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CENTRAL</a:t>
            </a:r>
            <a:endParaRPr lang="en-US" sz="683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097" y="3324690"/>
            <a:ext cx="571500" cy="5715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03084" y="2467440"/>
            <a:ext cx="258363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precisão de golpes, a eficiência em takedowns e a vantagem de alcance influenciam a probabilidade de vitória em lutas do UFC?"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72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617209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perguntas norteadoras orientam a construção e análise do Data Warehouse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1500" y="1117271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174421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85825" y="117442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Lutadores com maior precisão de golpes vencem mais lutas?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86313" y="1117271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843463" y="1174421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100638" y="117442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relação entre precisão de golpes e vitória mudou ao longo dos anos?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1599474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8650" y="1656624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885825" y="165662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diferença de takedown accuracy influencia o resultado?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86313" y="1599474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843463" y="1656624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100638" y="1656624"/>
            <a:ext cx="28414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grappling tem mais influência que o striking?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71500" y="2081678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28650" y="2138828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885825" y="2138828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mais golpes que o adversário aumenta a chance de vitória?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786313" y="2081678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843463" y="2138828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100638" y="2138828"/>
            <a:ext cx="32646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impacto do alcance varia entre categorias de peso?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571500" y="2563881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28650" y="2621031"/>
            <a:ext cx="1750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889397" y="2621031"/>
            <a:ext cx="3320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 maior alcance aumenta a probabilidade de vencer?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786313" y="2563881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843463" y="2621031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100638" y="262103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Vantagem simultânea em striking, takedown e alcance aumenta vitórias?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571500" y="3046084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28650" y="3103234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885825" y="3103234"/>
            <a:ext cx="3243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variável tem maior impacto no resultado da luta?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786313" y="3046084"/>
            <a:ext cx="3786188" cy="425053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843463" y="3103234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100638" y="310323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método de vitória está associado a alguma dessas variáveis?</a:t>
            </a:r>
            <a:endParaRPr lang="en-US" sz="942" dirty="0"/>
          </a:p>
        </p:txBody>
      </p:sp>
      <p:sp>
        <p:nvSpPr>
          <p:cNvPr id="36" name="Shape 33"/>
          <p:cNvSpPr/>
          <p:nvPr/>
        </p:nvSpPr>
        <p:spPr>
          <a:xfrm>
            <a:off x="571500" y="3642587"/>
            <a:ext cx="8001000" cy="594717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571500" y="3642587"/>
            <a:ext cx="28575" cy="59471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822967"/>
            <a:ext cx="228600" cy="2286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171575" y="3728312"/>
            <a:ext cx="64097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SMART</a:t>
            </a:r>
            <a:endParaRPr lang="en-US" sz="987" dirty="0"/>
          </a:p>
        </p:txBody>
      </p:sp>
      <p:sp>
        <p:nvSpPr>
          <p:cNvPr id="40" name="Text 36"/>
          <p:cNvSpPr/>
          <p:nvPr/>
        </p:nvSpPr>
        <p:spPr>
          <a:xfrm>
            <a:off x="1171575" y="3958698"/>
            <a:ext cx="64097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7.482 lutas válidas respondendo às 10 perguntas por meio de consultas SQL no Data Warehouse.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61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4617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bases de dados públicas sustentam toda a análise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808667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obtidos de scraper público com cobertura de 1993 a 2026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1053340"/>
            <a:ext cx="1885252" cy="221456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114062"/>
            <a:ext cx="96441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2266" y="1096203"/>
            <a:ext cx="15602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Greco1899/scrape_ufc_stats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571500" y="1489109"/>
            <a:ext cx="8001000" cy="200739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571500" y="1489109"/>
            <a:ext cx="2000250" cy="353616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571500" y="1835581"/>
            <a:ext cx="2000250" cy="7144"/>
          </a:xfrm>
          <a:prstGeom prst="rect">
            <a:avLst/>
          </a:prstGeom>
          <a:solidFill>
            <a:srgbClr val="EAED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571500" y="1489109"/>
            <a:ext cx="2000250" cy="35361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DADOS (CSV)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2571750" y="1489109"/>
            <a:ext cx="4400550" cy="353616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2571750" y="1835581"/>
            <a:ext cx="4400550" cy="7144"/>
          </a:xfrm>
          <a:prstGeom prst="rect">
            <a:avLst/>
          </a:prstGeom>
          <a:solidFill>
            <a:srgbClr val="EAED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2571750" y="1489109"/>
            <a:ext cx="4400550" cy="35361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6972300" y="1489109"/>
            <a:ext cx="1600200" cy="353616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972300" y="1835581"/>
            <a:ext cx="1600200" cy="7144"/>
          </a:xfrm>
          <a:prstGeom prst="rect">
            <a:avLst/>
          </a:prstGeom>
          <a:solidFill>
            <a:srgbClr val="EAED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6972300" y="1489109"/>
            <a:ext cx="1600200" cy="35361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ORIGINAIS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571500" y="1839153"/>
            <a:ext cx="200025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ufc_fight_results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2571750" y="1839153"/>
            <a:ext cx="440055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das lutas (outcome, método, categoria de peso)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6972300" y="1839153"/>
            <a:ext cx="160020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8.572</a:t>
            </a:r>
            <a:endParaRPr lang="en-US" sz="885" dirty="0"/>
          </a:p>
        </p:txBody>
      </p:sp>
      <p:sp>
        <p:nvSpPr>
          <p:cNvPr id="23" name="Text 19"/>
          <p:cNvSpPr/>
          <p:nvPr/>
        </p:nvSpPr>
        <p:spPr>
          <a:xfrm>
            <a:off x="571500" y="2246347"/>
            <a:ext cx="200025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ufc_fight_stats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2571750" y="2246347"/>
            <a:ext cx="440055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Estatísticas por round (golpes, takedowns, precisão)</a:t>
            </a:r>
            <a:endParaRPr lang="en-US" sz="942" dirty="0"/>
          </a:p>
        </p:txBody>
      </p:sp>
      <p:sp>
        <p:nvSpPr>
          <p:cNvPr id="25" name="Text 21"/>
          <p:cNvSpPr/>
          <p:nvPr/>
        </p:nvSpPr>
        <p:spPr>
          <a:xfrm>
            <a:off x="6972300" y="2246347"/>
            <a:ext cx="160020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40.362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571500" y="2657112"/>
            <a:ext cx="200025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ufc_fighter_tott</a:t>
            </a:r>
            <a:endParaRPr lang="en-US" sz="885" dirty="0"/>
          </a:p>
        </p:txBody>
      </p:sp>
      <p:sp>
        <p:nvSpPr>
          <p:cNvPr id="27" name="Text 23"/>
          <p:cNvSpPr/>
          <p:nvPr/>
        </p:nvSpPr>
        <p:spPr>
          <a:xfrm>
            <a:off x="2571750" y="2657112"/>
            <a:ext cx="440055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cadastrais dos lutadores (nome, alcance, altura)</a:t>
            </a:r>
            <a:endParaRPr lang="en-US" sz="942" dirty="0"/>
          </a:p>
        </p:txBody>
      </p:sp>
      <p:sp>
        <p:nvSpPr>
          <p:cNvPr id="28" name="Text 24"/>
          <p:cNvSpPr/>
          <p:nvPr/>
        </p:nvSpPr>
        <p:spPr>
          <a:xfrm>
            <a:off x="6972300" y="2657112"/>
            <a:ext cx="1600200" cy="410766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4.455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571500" y="3067878"/>
            <a:ext cx="200025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ufc_event_details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2571750" y="3067878"/>
            <a:ext cx="440055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dos eventos (nome, data, localização)</a:t>
            </a:r>
            <a:endParaRPr lang="en-US" sz="942" dirty="0"/>
          </a:p>
        </p:txBody>
      </p:sp>
      <p:sp>
        <p:nvSpPr>
          <p:cNvPr id="31" name="Text 27"/>
          <p:cNvSpPr/>
          <p:nvPr/>
        </p:nvSpPr>
        <p:spPr>
          <a:xfrm>
            <a:off x="6972300" y="3067878"/>
            <a:ext cx="1600200" cy="407194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764</a:t>
            </a:r>
            <a:endParaRPr lang="en-US" sz="885" dirty="0"/>
          </a:p>
        </p:txBody>
      </p:sp>
      <p:sp>
        <p:nvSpPr>
          <p:cNvPr id="32" name="Shape 28"/>
          <p:cNvSpPr/>
          <p:nvPr/>
        </p:nvSpPr>
        <p:spPr>
          <a:xfrm>
            <a:off x="571500" y="3760822"/>
            <a:ext cx="8001000" cy="63758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29"/>
          <p:cNvSpPr/>
          <p:nvPr/>
        </p:nvSpPr>
        <p:spPr>
          <a:xfrm>
            <a:off x="571500" y="3760822"/>
            <a:ext cx="8001000" cy="7144"/>
          </a:xfrm>
          <a:prstGeom prst="rect">
            <a:avLst/>
          </a:prstGeom>
          <a:solidFill>
            <a:srgbClr val="C3EB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/>
          <p:nvPr/>
        </p:nvSpPr>
        <p:spPr>
          <a:xfrm>
            <a:off x="571500" y="3903697"/>
            <a:ext cx="8001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CAMPOS-CHAVE SELECIONADOS PARA O DW</a:t>
            </a:r>
            <a:endParaRPr lang="en-US" sz="784" dirty="0"/>
          </a:p>
        </p:txBody>
      </p:sp>
      <p:sp>
        <p:nvSpPr>
          <p:cNvPr id="35" name="Shape 31"/>
          <p:cNvSpPr/>
          <p:nvPr/>
        </p:nvSpPr>
        <p:spPr>
          <a:xfrm>
            <a:off x="571500" y="4155514"/>
            <a:ext cx="485775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2"/>
          <p:cNvSpPr/>
          <p:nvPr/>
        </p:nvSpPr>
        <p:spPr>
          <a:xfrm>
            <a:off x="571500" y="4155514"/>
            <a:ext cx="485775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EVENT</a:t>
            </a:r>
            <a:endParaRPr lang="en-US" sz="727" dirty="0"/>
          </a:p>
        </p:txBody>
      </p:sp>
      <p:sp>
        <p:nvSpPr>
          <p:cNvPr id="37" name="Shape 33"/>
          <p:cNvSpPr/>
          <p:nvPr/>
        </p:nvSpPr>
        <p:spPr>
          <a:xfrm>
            <a:off x="1114425" y="4155514"/>
            <a:ext cx="425779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4"/>
          <p:cNvSpPr/>
          <p:nvPr/>
        </p:nvSpPr>
        <p:spPr>
          <a:xfrm>
            <a:off x="1114425" y="4155514"/>
            <a:ext cx="425779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BOUT</a:t>
            </a:r>
            <a:endParaRPr lang="en-US" sz="727" dirty="0"/>
          </a:p>
        </p:txBody>
      </p:sp>
      <p:sp>
        <p:nvSpPr>
          <p:cNvPr id="39" name="Shape 35"/>
          <p:cNvSpPr/>
          <p:nvPr/>
        </p:nvSpPr>
        <p:spPr>
          <a:xfrm>
            <a:off x="1597354" y="4155514"/>
            <a:ext cx="605796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6"/>
          <p:cNvSpPr/>
          <p:nvPr/>
        </p:nvSpPr>
        <p:spPr>
          <a:xfrm>
            <a:off x="1597354" y="4155514"/>
            <a:ext cx="60579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OUTCOME</a:t>
            </a:r>
            <a:endParaRPr lang="en-US" sz="727" dirty="0"/>
          </a:p>
        </p:txBody>
      </p:sp>
      <p:sp>
        <p:nvSpPr>
          <p:cNvPr id="41" name="Shape 37"/>
          <p:cNvSpPr/>
          <p:nvPr/>
        </p:nvSpPr>
        <p:spPr>
          <a:xfrm>
            <a:off x="2260299" y="4155514"/>
            <a:ext cx="845837" cy="23574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8"/>
          <p:cNvSpPr/>
          <p:nvPr/>
        </p:nvSpPr>
        <p:spPr>
          <a:xfrm>
            <a:off x="2260299" y="4155514"/>
            <a:ext cx="845837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WEIGHTCLASS</a:t>
            </a:r>
            <a:endParaRPr lang="en-US" sz="727" dirty="0"/>
          </a:p>
        </p:txBody>
      </p:sp>
      <p:sp>
        <p:nvSpPr>
          <p:cNvPr id="43" name="Shape 39"/>
          <p:cNvSpPr/>
          <p:nvPr/>
        </p:nvSpPr>
        <p:spPr>
          <a:xfrm>
            <a:off x="3163286" y="4155514"/>
            <a:ext cx="545799" cy="23574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0"/>
          <p:cNvSpPr/>
          <p:nvPr/>
        </p:nvSpPr>
        <p:spPr>
          <a:xfrm>
            <a:off x="3163286" y="4155514"/>
            <a:ext cx="545799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METHOD</a:t>
            </a:r>
            <a:endParaRPr lang="en-US" sz="727" dirty="0"/>
          </a:p>
        </p:txBody>
      </p:sp>
      <p:sp>
        <p:nvSpPr>
          <p:cNvPr id="45" name="Shape 41"/>
          <p:cNvSpPr/>
          <p:nvPr/>
        </p:nvSpPr>
        <p:spPr>
          <a:xfrm>
            <a:off x="3766235" y="4155514"/>
            <a:ext cx="485775" cy="23574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2"/>
          <p:cNvSpPr/>
          <p:nvPr/>
        </p:nvSpPr>
        <p:spPr>
          <a:xfrm>
            <a:off x="3766235" y="4155514"/>
            <a:ext cx="485775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ROUND</a:t>
            </a:r>
            <a:endParaRPr lang="en-US" sz="727" dirty="0"/>
          </a:p>
        </p:txBody>
      </p:sp>
      <p:sp>
        <p:nvSpPr>
          <p:cNvPr id="47" name="Shape 43"/>
          <p:cNvSpPr/>
          <p:nvPr/>
        </p:nvSpPr>
        <p:spPr>
          <a:xfrm>
            <a:off x="4309160" y="4155514"/>
            <a:ext cx="665820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4"/>
          <p:cNvSpPr/>
          <p:nvPr/>
        </p:nvSpPr>
        <p:spPr>
          <a:xfrm>
            <a:off x="4309160" y="4155514"/>
            <a:ext cx="665820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SIG.STR.</a:t>
            </a:r>
            <a:endParaRPr lang="en-US" sz="727" dirty="0"/>
          </a:p>
        </p:txBody>
      </p:sp>
      <p:sp>
        <p:nvSpPr>
          <p:cNvPr id="49" name="Shape 45"/>
          <p:cNvSpPr/>
          <p:nvPr/>
        </p:nvSpPr>
        <p:spPr>
          <a:xfrm>
            <a:off x="5032130" y="4155514"/>
            <a:ext cx="725816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6"/>
          <p:cNvSpPr/>
          <p:nvPr/>
        </p:nvSpPr>
        <p:spPr>
          <a:xfrm>
            <a:off x="5032130" y="4155514"/>
            <a:ext cx="72581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SIG.STR.%</a:t>
            </a:r>
            <a:endParaRPr lang="en-US" sz="727" dirty="0"/>
          </a:p>
        </p:txBody>
      </p:sp>
      <p:sp>
        <p:nvSpPr>
          <p:cNvPr id="51" name="Shape 47"/>
          <p:cNvSpPr/>
          <p:nvPr/>
        </p:nvSpPr>
        <p:spPr>
          <a:xfrm>
            <a:off x="5815096" y="4155514"/>
            <a:ext cx="305758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8"/>
          <p:cNvSpPr/>
          <p:nvPr/>
        </p:nvSpPr>
        <p:spPr>
          <a:xfrm>
            <a:off x="5815096" y="4155514"/>
            <a:ext cx="305758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TD</a:t>
            </a:r>
            <a:endParaRPr lang="en-US" sz="727" dirty="0"/>
          </a:p>
        </p:txBody>
      </p:sp>
      <p:sp>
        <p:nvSpPr>
          <p:cNvPr id="53" name="Shape 49"/>
          <p:cNvSpPr/>
          <p:nvPr/>
        </p:nvSpPr>
        <p:spPr>
          <a:xfrm>
            <a:off x="6178004" y="4155514"/>
            <a:ext cx="365782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0"/>
          <p:cNvSpPr/>
          <p:nvPr/>
        </p:nvSpPr>
        <p:spPr>
          <a:xfrm>
            <a:off x="6178004" y="4155514"/>
            <a:ext cx="365782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TD%</a:t>
            </a:r>
            <a:endParaRPr lang="en-US" sz="727" dirty="0"/>
          </a:p>
        </p:txBody>
      </p:sp>
      <p:sp>
        <p:nvSpPr>
          <p:cNvPr id="55" name="Shape 51"/>
          <p:cNvSpPr/>
          <p:nvPr/>
        </p:nvSpPr>
        <p:spPr>
          <a:xfrm>
            <a:off x="6600937" y="4155514"/>
            <a:ext cx="605796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2"/>
          <p:cNvSpPr/>
          <p:nvPr/>
        </p:nvSpPr>
        <p:spPr>
          <a:xfrm>
            <a:off x="6600937" y="4155514"/>
            <a:ext cx="60579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FIGHTER</a:t>
            </a:r>
            <a:endParaRPr lang="en-US" sz="727" dirty="0"/>
          </a:p>
        </p:txBody>
      </p:sp>
      <p:sp>
        <p:nvSpPr>
          <p:cNvPr id="57" name="Shape 53"/>
          <p:cNvSpPr/>
          <p:nvPr/>
        </p:nvSpPr>
        <p:spPr>
          <a:xfrm>
            <a:off x="7263882" y="4155514"/>
            <a:ext cx="485775" cy="235744"/>
          </a:xfrm>
          <a:prstGeom prst="rect">
            <a:avLst/>
          </a:prstGeom>
          <a:solidFill>
            <a:srgbClr val="38BDF8">
              <a:alpha val="2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4"/>
          <p:cNvSpPr/>
          <p:nvPr/>
        </p:nvSpPr>
        <p:spPr>
          <a:xfrm>
            <a:off x="7263882" y="4155514"/>
            <a:ext cx="485775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REACH</a:t>
            </a:r>
            <a:endParaRPr lang="en-US" sz="727" dirty="0"/>
          </a:p>
        </p:txBody>
      </p:sp>
      <p:sp>
        <p:nvSpPr>
          <p:cNvPr id="59" name="Shape 55"/>
          <p:cNvSpPr/>
          <p:nvPr/>
        </p:nvSpPr>
        <p:spPr>
          <a:xfrm>
            <a:off x="7806807" y="4155514"/>
            <a:ext cx="425779" cy="23574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6"/>
          <p:cNvSpPr/>
          <p:nvPr/>
        </p:nvSpPr>
        <p:spPr>
          <a:xfrm>
            <a:off x="7806807" y="4155514"/>
            <a:ext cx="425779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72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617209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Limpeza dos dados garantiu integridade sem comprometer representatividade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1500" y="1331584"/>
            <a:ext cx="2500313" cy="1337667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511964"/>
            <a:ext cx="107156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503034"/>
            <a:ext cx="1139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 DE CORTE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742950" y="1728062"/>
            <a:ext cx="1887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Exclusão de todos os lutadores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742950" y="1920943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a estatística de alcance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42950" y="2113824"/>
            <a:ext cx="6482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registrada.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742950" y="2297776"/>
            <a:ext cx="92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REACH = "--"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571500" y="2797839"/>
            <a:ext cx="2500313" cy="1314450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71500" y="2797839"/>
            <a:ext cx="28575" cy="13144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714375" y="2940714"/>
            <a:ext cx="221456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"Os lutadores removidos eram majoritariamente de eventos antigos (anos 90), quando o registro físico não era padronizado. A remoção de 44% dos atletas impactou apenas 12,7% das lutas."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3357563" y="1331584"/>
            <a:ext cx="1802792" cy="28039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DADOS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5160355" y="1331584"/>
            <a:ext cx="821838" cy="28039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5982193" y="1331584"/>
            <a:ext cx="747973" cy="28039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</a:t>
            </a:r>
            <a:endParaRPr lang="en-US" sz="584" dirty="0"/>
          </a:p>
        </p:txBody>
      </p:sp>
      <p:sp>
        <p:nvSpPr>
          <p:cNvPr id="19" name="Text 15"/>
          <p:cNvSpPr/>
          <p:nvPr/>
        </p:nvSpPr>
        <p:spPr>
          <a:xfrm>
            <a:off x="6730166" y="1331584"/>
            <a:ext cx="964992" cy="28039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REMOVIDOS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7695158" y="1331584"/>
            <a:ext cx="877342" cy="28039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3357563" y="1611976"/>
            <a:ext cx="1802792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ufc_fighter_tott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5160355" y="1611976"/>
            <a:ext cx="821838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4.455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5982193" y="1611976"/>
            <a:ext cx="747973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2.475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6730166" y="1611976"/>
            <a:ext cx="964992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1.980</a:t>
            </a:r>
            <a:endParaRPr lang="en-US" sz="834" dirty="0"/>
          </a:p>
        </p:txBody>
      </p:sp>
      <p:sp>
        <p:nvSpPr>
          <p:cNvPr id="25" name="Shape 21"/>
          <p:cNvSpPr/>
          <p:nvPr/>
        </p:nvSpPr>
        <p:spPr>
          <a:xfrm>
            <a:off x="7809458" y="1729848"/>
            <a:ext cx="450056" cy="178594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/>
          <p:nvPr/>
        </p:nvSpPr>
        <p:spPr>
          <a:xfrm>
            <a:off x="7809458" y="1729848"/>
            <a:ext cx="450056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44,4%</a:t>
            </a:r>
            <a:endParaRPr lang="en-US" sz="683" dirty="0"/>
          </a:p>
        </p:txBody>
      </p:sp>
      <p:sp>
        <p:nvSpPr>
          <p:cNvPr id="27" name="Text 23"/>
          <p:cNvSpPr/>
          <p:nvPr/>
        </p:nvSpPr>
        <p:spPr>
          <a:xfrm>
            <a:off x="3357563" y="2026314"/>
            <a:ext cx="1802792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ufc_fight_results</a:t>
            </a:r>
            <a:endParaRPr lang="en-US" sz="834" dirty="0"/>
          </a:p>
        </p:txBody>
      </p:sp>
      <p:sp>
        <p:nvSpPr>
          <p:cNvPr id="28" name="Text 24"/>
          <p:cNvSpPr/>
          <p:nvPr/>
        </p:nvSpPr>
        <p:spPr>
          <a:xfrm>
            <a:off x="5160355" y="2026314"/>
            <a:ext cx="821838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8.572</a:t>
            </a:r>
            <a:endParaRPr lang="en-US" sz="834" dirty="0"/>
          </a:p>
        </p:txBody>
      </p:sp>
      <p:sp>
        <p:nvSpPr>
          <p:cNvPr id="29" name="Text 25"/>
          <p:cNvSpPr/>
          <p:nvPr/>
        </p:nvSpPr>
        <p:spPr>
          <a:xfrm>
            <a:off x="5982193" y="2026314"/>
            <a:ext cx="747973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7.482</a:t>
            </a:r>
            <a:endParaRPr lang="en-US" sz="834" dirty="0"/>
          </a:p>
        </p:txBody>
      </p:sp>
      <p:sp>
        <p:nvSpPr>
          <p:cNvPr id="30" name="Text 26"/>
          <p:cNvSpPr/>
          <p:nvPr/>
        </p:nvSpPr>
        <p:spPr>
          <a:xfrm>
            <a:off x="6730166" y="2026314"/>
            <a:ext cx="964992" cy="4143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1.090</a:t>
            </a:r>
            <a:endParaRPr lang="en-US" sz="834" dirty="0"/>
          </a:p>
        </p:txBody>
      </p:sp>
      <p:sp>
        <p:nvSpPr>
          <p:cNvPr id="31" name="Shape 27"/>
          <p:cNvSpPr/>
          <p:nvPr/>
        </p:nvSpPr>
        <p:spPr>
          <a:xfrm>
            <a:off x="7809458" y="2144185"/>
            <a:ext cx="412552" cy="178594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/>
          <p:nvPr/>
        </p:nvSpPr>
        <p:spPr>
          <a:xfrm>
            <a:off x="7809458" y="2144185"/>
            <a:ext cx="412552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12,7%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3357563" y="2440651"/>
            <a:ext cx="1802792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ufc_fight_stats</a:t>
            </a:r>
            <a:endParaRPr lang="en-US" sz="834" dirty="0"/>
          </a:p>
        </p:txBody>
      </p:sp>
      <p:sp>
        <p:nvSpPr>
          <p:cNvPr id="34" name="Text 30"/>
          <p:cNvSpPr/>
          <p:nvPr/>
        </p:nvSpPr>
        <p:spPr>
          <a:xfrm>
            <a:off x="5160355" y="2440651"/>
            <a:ext cx="821838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40.362</a:t>
            </a:r>
            <a:endParaRPr lang="en-US" sz="834" dirty="0"/>
          </a:p>
        </p:txBody>
      </p:sp>
      <p:sp>
        <p:nvSpPr>
          <p:cNvPr id="35" name="Text 31"/>
          <p:cNvSpPr/>
          <p:nvPr/>
        </p:nvSpPr>
        <p:spPr>
          <a:xfrm>
            <a:off x="5982193" y="2440651"/>
            <a:ext cx="747973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36.188</a:t>
            </a:r>
            <a:endParaRPr lang="en-US" sz="834" dirty="0"/>
          </a:p>
        </p:txBody>
      </p:sp>
      <p:sp>
        <p:nvSpPr>
          <p:cNvPr id="36" name="Text 32"/>
          <p:cNvSpPr/>
          <p:nvPr/>
        </p:nvSpPr>
        <p:spPr>
          <a:xfrm>
            <a:off x="6730166" y="2440651"/>
            <a:ext cx="964992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4.174</a:t>
            </a:r>
            <a:endParaRPr lang="en-US" sz="834" dirty="0"/>
          </a:p>
        </p:txBody>
      </p:sp>
      <p:sp>
        <p:nvSpPr>
          <p:cNvPr id="37" name="Shape 33"/>
          <p:cNvSpPr/>
          <p:nvPr/>
        </p:nvSpPr>
        <p:spPr>
          <a:xfrm>
            <a:off x="7809458" y="2558523"/>
            <a:ext cx="419695" cy="178594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4"/>
          <p:cNvSpPr/>
          <p:nvPr/>
        </p:nvSpPr>
        <p:spPr>
          <a:xfrm>
            <a:off x="7809458" y="2558523"/>
            <a:ext cx="419695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10,3%</a:t>
            </a:r>
            <a:endParaRPr lang="en-US" sz="683" dirty="0"/>
          </a:p>
        </p:txBody>
      </p:sp>
      <p:sp>
        <p:nvSpPr>
          <p:cNvPr id="39" name="Shape 35"/>
          <p:cNvSpPr/>
          <p:nvPr/>
        </p:nvSpPr>
        <p:spPr>
          <a:xfrm>
            <a:off x="3357563" y="3937992"/>
            <a:ext cx="5214938" cy="77688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6"/>
          <p:cNvSpPr/>
          <p:nvPr/>
        </p:nvSpPr>
        <p:spPr>
          <a:xfrm>
            <a:off x="3500438" y="4138017"/>
            <a:ext cx="15478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ORIGINAL (STRING)</a:t>
            </a:r>
            <a:endParaRPr lang="en-US" sz="621" dirty="0"/>
          </a:p>
        </p:txBody>
      </p:sp>
      <p:sp>
        <p:nvSpPr>
          <p:cNvPr id="41" name="Shape 37"/>
          <p:cNvSpPr/>
          <p:nvPr/>
        </p:nvSpPr>
        <p:spPr>
          <a:xfrm>
            <a:off x="3888516" y="4286250"/>
            <a:ext cx="771637" cy="228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8"/>
          <p:cNvSpPr/>
          <p:nvPr/>
        </p:nvSpPr>
        <p:spPr>
          <a:xfrm>
            <a:off x="3888516" y="4286250"/>
            <a:ext cx="771637" cy="22860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 of 20"</a:t>
            </a:r>
            <a:endParaRPr lang="en-US" sz="727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9" y="4254103"/>
            <a:ext cx="142875" cy="142875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191134" y="4138017"/>
            <a:ext cx="15478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PYTHON</a:t>
            </a:r>
            <a:endParaRPr lang="en-US" sz="621" dirty="0"/>
          </a:p>
        </p:txBody>
      </p:sp>
      <p:sp>
        <p:nvSpPr>
          <p:cNvPr id="45" name="Shape 40"/>
          <p:cNvSpPr/>
          <p:nvPr/>
        </p:nvSpPr>
        <p:spPr>
          <a:xfrm>
            <a:off x="5369170" y="4286250"/>
            <a:ext cx="1191751" cy="228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1"/>
          <p:cNvSpPr/>
          <p:nvPr/>
        </p:nvSpPr>
        <p:spPr>
          <a:xfrm>
            <a:off x="5369170" y="4286250"/>
            <a:ext cx="1191751" cy="22860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split() &amp; convert</a:t>
            </a:r>
            <a:endParaRPr lang="en-US" sz="727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956" y="4254103"/>
            <a:ext cx="142875" cy="142875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81831" y="4080867"/>
            <a:ext cx="15478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DW (NUMÉRICO)</a:t>
            </a:r>
            <a:endParaRPr lang="en-US" sz="621" dirty="0"/>
          </a:p>
        </p:txBody>
      </p:sp>
      <p:sp>
        <p:nvSpPr>
          <p:cNvPr id="49" name="Shape 43"/>
          <p:cNvSpPr/>
          <p:nvPr/>
        </p:nvSpPr>
        <p:spPr>
          <a:xfrm>
            <a:off x="6881831" y="4229100"/>
            <a:ext cx="1547822" cy="3429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4"/>
          <p:cNvSpPr/>
          <p:nvPr/>
        </p:nvSpPr>
        <p:spPr>
          <a:xfrm>
            <a:off x="6881831" y="4229100"/>
            <a:ext cx="1547822" cy="34290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LANDED: 10 | ATTEMPTED: 20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41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40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44023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Star Schema organiza os dados em dimensões e tabelas fato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117271"/>
            <a:ext cx="6429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Implementado no Oracle Database 21c (Schema: SCH_UFC_001) seguindo o paradigma dimensional.</a:t>
            </a:r>
            <a:endParaRPr lang="en-US" sz="942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09285"/>
            <a:ext cx="151805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4742" y="1486960"/>
            <a:ext cx="18752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DIMENSIONAIS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571500" y="1803071"/>
            <a:ext cx="3857625" cy="525763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714375" y="1915920"/>
            <a:ext cx="285750" cy="285750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93" y="1994502"/>
            <a:ext cx="112514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7281" y="1910228"/>
            <a:ext cx="3178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DIM_EVENTO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1107281" y="2067390"/>
            <a:ext cx="31789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e data dos eventos do UFC. Análises temporais.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571500" y="2393128"/>
            <a:ext cx="3857625" cy="525763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714375" y="2505977"/>
            <a:ext cx="285750" cy="285750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993" y="2584559"/>
            <a:ext cx="112514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7281" y="2500285"/>
            <a:ext cx="3178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DIM_LUTA</a:t>
            </a:r>
            <a:endParaRPr lang="en-US" sz="784" dirty="0"/>
          </a:p>
        </p:txBody>
      </p:sp>
      <p:sp>
        <p:nvSpPr>
          <p:cNvPr id="18" name="Text 12"/>
          <p:cNvSpPr/>
          <p:nvPr/>
        </p:nvSpPr>
        <p:spPr>
          <a:xfrm>
            <a:off x="1107281" y="2657447"/>
            <a:ext cx="31789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da luta e categoria de peso.</a:t>
            </a:r>
            <a:endParaRPr lang="en-US" sz="727" dirty="0"/>
          </a:p>
        </p:txBody>
      </p:sp>
      <p:sp>
        <p:nvSpPr>
          <p:cNvPr id="19" name="Shape 13"/>
          <p:cNvSpPr/>
          <p:nvPr/>
        </p:nvSpPr>
        <p:spPr>
          <a:xfrm>
            <a:off x="571500" y="2983185"/>
            <a:ext cx="3857625" cy="525763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714375" y="3096034"/>
            <a:ext cx="285750" cy="285750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993" y="3174616"/>
            <a:ext cx="112514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07281" y="3090342"/>
            <a:ext cx="3178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DIM_LUTADOR</a:t>
            </a:r>
            <a:endParaRPr lang="en-US" sz="784" dirty="0"/>
          </a:p>
        </p:txBody>
      </p:sp>
      <p:sp>
        <p:nvSpPr>
          <p:cNvPr id="23" name="Text 16"/>
          <p:cNvSpPr/>
          <p:nvPr/>
        </p:nvSpPr>
        <p:spPr>
          <a:xfrm>
            <a:off x="1107281" y="3247504"/>
            <a:ext cx="31789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e alcance (reach) do atleta. Dimensão central.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571500" y="3573242"/>
            <a:ext cx="3857625" cy="525763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714375" y="3686091"/>
            <a:ext cx="285750" cy="285750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56" y="3764673"/>
            <a:ext cx="128588" cy="128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07281" y="3680399"/>
            <a:ext cx="3178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DIM_METODO</a:t>
            </a:r>
            <a:endParaRPr lang="en-US" sz="784" dirty="0"/>
          </a:p>
        </p:txBody>
      </p:sp>
      <p:sp>
        <p:nvSpPr>
          <p:cNvPr id="28" name="Text 20"/>
          <p:cNvSpPr/>
          <p:nvPr/>
        </p:nvSpPr>
        <p:spPr>
          <a:xfrm>
            <a:off x="1107281" y="3837561"/>
            <a:ext cx="31789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de vitória (KO, SUB, DEC).</a:t>
            </a:r>
            <a:endParaRPr lang="en-US" sz="727" dirty="0"/>
          </a:p>
        </p:txBody>
      </p:sp>
      <p:sp>
        <p:nvSpPr>
          <p:cNvPr id="29" name="Shape 21"/>
          <p:cNvSpPr/>
          <p:nvPr/>
        </p:nvSpPr>
        <p:spPr>
          <a:xfrm>
            <a:off x="571500" y="4163299"/>
            <a:ext cx="3857625" cy="525763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2"/>
          <p:cNvSpPr/>
          <p:nvPr/>
        </p:nvSpPr>
        <p:spPr>
          <a:xfrm>
            <a:off x="714375" y="4276148"/>
            <a:ext cx="285750" cy="285750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956" y="4354730"/>
            <a:ext cx="128588" cy="128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07281" y="4270456"/>
            <a:ext cx="3178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DIM_TEMPO</a:t>
            </a:r>
            <a:endParaRPr lang="en-US" sz="784" dirty="0"/>
          </a:p>
        </p:txBody>
      </p:sp>
      <p:sp>
        <p:nvSpPr>
          <p:cNvPr id="33" name="Text 24"/>
          <p:cNvSpPr/>
          <p:nvPr/>
        </p:nvSpPr>
        <p:spPr>
          <a:xfrm>
            <a:off x="1107281" y="4427618"/>
            <a:ext cx="31789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do round. Agregação por tempo.</a:t>
            </a:r>
            <a:endParaRPr lang="en-US" sz="727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1509285"/>
            <a:ext cx="119658" cy="128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905970" y="1486960"/>
            <a:ext cx="11251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FATO</a:t>
            </a:r>
            <a:endParaRPr lang="en-US" sz="987" dirty="0"/>
          </a:p>
        </p:txBody>
      </p:sp>
      <p:sp>
        <p:nvSpPr>
          <p:cNvPr id="36" name="Shape 26"/>
          <p:cNvSpPr/>
          <p:nvPr/>
        </p:nvSpPr>
        <p:spPr>
          <a:xfrm>
            <a:off x="4714875" y="1917371"/>
            <a:ext cx="3857625" cy="1486905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7"/>
          <p:cNvSpPr/>
          <p:nvPr/>
        </p:nvSpPr>
        <p:spPr>
          <a:xfrm>
            <a:off x="4843463" y="2045959"/>
            <a:ext cx="357188" cy="35718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6331" y="2138828"/>
            <a:ext cx="171450" cy="17145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43463" y="2510303"/>
            <a:ext cx="360045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FATO_ROUND_LUTA</a:t>
            </a:r>
            <a:endParaRPr lang="en-US" sz="987" dirty="0"/>
          </a:p>
        </p:txBody>
      </p:sp>
      <p:sp>
        <p:nvSpPr>
          <p:cNvPr id="40" name="Text 29"/>
          <p:cNvSpPr/>
          <p:nvPr/>
        </p:nvSpPr>
        <p:spPr>
          <a:xfrm>
            <a:off x="4843463" y="2701398"/>
            <a:ext cx="3600450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estatísticas técnicas (golpes, takedowns) de cada lutador em cada round. 
 </a:t>
            </a: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Granularidade:</a:t>
            </a: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registro por lutador × round × luta.</a:t>
            </a:r>
            <a:endParaRPr lang="en-US" sz="727" dirty="0"/>
          </a:p>
        </p:txBody>
      </p:sp>
      <p:sp>
        <p:nvSpPr>
          <p:cNvPr id="41" name="Shape 30"/>
          <p:cNvSpPr/>
          <p:nvPr/>
        </p:nvSpPr>
        <p:spPr>
          <a:xfrm>
            <a:off x="4714875" y="3504288"/>
            <a:ext cx="3857625" cy="134690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1"/>
          <p:cNvSpPr/>
          <p:nvPr/>
        </p:nvSpPr>
        <p:spPr>
          <a:xfrm>
            <a:off x="4843463" y="3632876"/>
            <a:ext cx="357188" cy="35718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5616" y="3725745"/>
            <a:ext cx="192881" cy="17145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843463" y="4097220"/>
            <a:ext cx="269676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FATO_RESULTADO_LUTA</a:t>
            </a:r>
            <a:endParaRPr lang="en-US" sz="987" dirty="0"/>
          </a:p>
        </p:txBody>
      </p:sp>
      <p:sp>
        <p:nvSpPr>
          <p:cNvPr id="45" name="Text 33"/>
          <p:cNvSpPr/>
          <p:nvPr/>
        </p:nvSpPr>
        <p:spPr>
          <a:xfrm>
            <a:off x="4843463" y="4288315"/>
            <a:ext cx="26967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o resultado da luta (venceu/perdeu) e o método. 
 </a:t>
            </a: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Granularidade:</a:t>
            </a: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registro por lutador × luta.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81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32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55327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FATO_ROUND_LUTA captura o desempenho técnico por round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808667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métricas de striking e grappling são registradas com granularidade por round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196215"/>
            <a:ext cx="6429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tabela </a:t>
            </a: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FATO_ROUND_LUTA</a:t>
            </a: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coração analítico do Data Warehouse, armazenando as métricas técnicas de cada lutador em cada round de cada luta.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1796290"/>
            <a:ext cx="3857625" cy="2341364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968633"/>
            <a:ext cx="150019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694" y="1967740"/>
            <a:ext cx="15055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STRIKING (GOLPES)</a:t>
            </a:r>
            <a:endParaRPr lang="en-US" sz="987" dirty="0"/>
          </a:p>
        </p:txBody>
      </p:sp>
      <p:sp>
        <p:nvSpPr>
          <p:cNvPr id="11" name="Shape 7"/>
          <p:cNvSpPr/>
          <p:nvPr/>
        </p:nvSpPr>
        <p:spPr>
          <a:xfrm>
            <a:off x="742950" y="2376720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828675" y="2433870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PCT_GOLPES_SIG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2977911" y="2439228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(%)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742950" y="2708904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828675" y="2766054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GOLPES_SIG_ACERTADOS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2977911" y="2771412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Significativos Acertados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742950" y="3041089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828675" y="3098239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GOLPES_SIG_TENTADOS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2977911" y="3103597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Significativos Tentados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742950" y="3373273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828675" y="3430423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GOLPES_TOTAIS_ACERTADOS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2977911" y="3435781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Totais Acertados</a:t>
            </a:r>
            <a:endParaRPr lang="en-US" sz="727" dirty="0"/>
          </a:p>
        </p:txBody>
      </p:sp>
      <p:sp>
        <p:nvSpPr>
          <p:cNvPr id="23" name="Shape 19"/>
          <p:cNvSpPr/>
          <p:nvPr/>
        </p:nvSpPr>
        <p:spPr>
          <a:xfrm>
            <a:off x="742950" y="3705458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828675" y="3762608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GOLPES_TOTAIS_TENTADOS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2977911" y="3767965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Totais Tentados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4714875" y="1796290"/>
            <a:ext cx="3857625" cy="2327077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1968633"/>
            <a:ext cx="192881" cy="1714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64931" y="1967740"/>
            <a:ext cx="16912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GRAPPLING (QUEDAS)</a:t>
            </a:r>
            <a:endParaRPr lang="en-US" sz="987" dirty="0"/>
          </a:p>
        </p:txBody>
      </p:sp>
      <p:sp>
        <p:nvSpPr>
          <p:cNvPr id="29" name="Shape 24"/>
          <p:cNvSpPr/>
          <p:nvPr/>
        </p:nvSpPr>
        <p:spPr>
          <a:xfrm>
            <a:off x="4886325" y="2376720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4972050" y="2433870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PCT_TAKEDOWNS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7121286" y="2439228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de Quedas (%)</a:t>
            </a:r>
            <a:endParaRPr lang="en-US" sz="727" dirty="0"/>
          </a:p>
        </p:txBody>
      </p:sp>
      <p:sp>
        <p:nvSpPr>
          <p:cNvPr id="32" name="Shape 27"/>
          <p:cNvSpPr/>
          <p:nvPr/>
        </p:nvSpPr>
        <p:spPr>
          <a:xfrm>
            <a:off x="4886325" y="2708904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/>
          <p:nvPr/>
        </p:nvSpPr>
        <p:spPr>
          <a:xfrm>
            <a:off x="4972050" y="2766054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TAKEDOWNS_ACERTADOS</a:t>
            </a:r>
            <a:endParaRPr lang="en-US" sz="683" dirty="0"/>
          </a:p>
        </p:txBody>
      </p:sp>
      <p:sp>
        <p:nvSpPr>
          <p:cNvPr id="34" name="Text 29"/>
          <p:cNvSpPr/>
          <p:nvPr/>
        </p:nvSpPr>
        <p:spPr>
          <a:xfrm>
            <a:off x="7121286" y="2771412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Quedas Acertadas</a:t>
            </a:r>
            <a:endParaRPr lang="en-US" sz="727" dirty="0"/>
          </a:p>
        </p:txBody>
      </p:sp>
      <p:sp>
        <p:nvSpPr>
          <p:cNvPr id="35" name="Shape 30"/>
          <p:cNvSpPr/>
          <p:nvPr/>
        </p:nvSpPr>
        <p:spPr>
          <a:xfrm>
            <a:off x="4886325" y="3041089"/>
            <a:ext cx="3514725" cy="246459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/>
          <p:nvPr/>
        </p:nvSpPr>
        <p:spPr>
          <a:xfrm>
            <a:off x="4972050" y="3098239"/>
            <a:ext cx="21492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TAKEDOWNS_TENTADOS</a:t>
            </a:r>
            <a:endParaRPr lang="en-US" sz="683" dirty="0"/>
          </a:p>
        </p:txBody>
      </p:sp>
      <p:sp>
        <p:nvSpPr>
          <p:cNvPr id="37" name="Text 32"/>
          <p:cNvSpPr/>
          <p:nvPr/>
        </p:nvSpPr>
        <p:spPr>
          <a:xfrm>
            <a:off x="7121286" y="3103597"/>
            <a:ext cx="11940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Quedas Tentadas</a:t>
            </a:r>
            <a:endParaRPr lang="en-US" sz="727" dirty="0"/>
          </a:p>
        </p:txBody>
      </p:sp>
      <p:sp>
        <p:nvSpPr>
          <p:cNvPr id="38" name="Shape 33"/>
          <p:cNvSpPr/>
          <p:nvPr/>
        </p:nvSpPr>
        <p:spPr>
          <a:xfrm>
            <a:off x="571500" y="4337679"/>
            <a:ext cx="8001000" cy="523280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4"/>
          <p:cNvSpPr/>
          <p:nvPr/>
        </p:nvSpPr>
        <p:spPr>
          <a:xfrm>
            <a:off x="714375" y="4531454"/>
            <a:ext cx="15144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CHAVES ESTRANGEIRAS (FKS)</a:t>
            </a:r>
            <a:endParaRPr lang="en-US" sz="683" dirty="0"/>
          </a:p>
        </p:txBody>
      </p:sp>
      <p:sp>
        <p:nvSpPr>
          <p:cNvPr id="40" name="Shape 35"/>
          <p:cNvSpPr/>
          <p:nvPr/>
        </p:nvSpPr>
        <p:spPr>
          <a:xfrm>
            <a:off x="2371725" y="4480554"/>
            <a:ext cx="867966" cy="223242"/>
          </a:xfrm>
          <a:prstGeom prst="roundRect">
            <a:avLst/>
          </a:prstGeom>
          <a:solidFill>
            <a:srgbClr val="38BDF8">
              <a:alpha val="1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450" y="4556457"/>
            <a:ext cx="71438" cy="7143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2586038" y="4530561"/>
            <a:ext cx="55364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SK_LUTADOR</a:t>
            </a:r>
            <a:endParaRPr lang="en-US" sz="674" dirty="0"/>
          </a:p>
        </p:txBody>
      </p:sp>
      <p:sp>
        <p:nvSpPr>
          <p:cNvPr id="43" name="Shape 37"/>
          <p:cNvSpPr/>
          <p:nvPr/>
        </p:nvSpPr>
        <p:spPr>
          <a:xfrm>
            <a:off x="3311128" y="4480554"/>
            <a:ext cx="812602" cy="223242"/>
          </a:xfrm>
          <a:prstGeom prst="roundRect">
            <a:avLst/>
          </a:prstGeom>
          <a:solidFill>
            <a:srgbClr val="38BDF8">
              <a:alpha val="1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6853" y="4556457"/>
            <a:ext cx="71438" cy="7143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525441" y="4530561"/>
            <a:ext cx="4982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SK_EVENTO</a:t>
            </a:r>
            <a:endParaRPr lang="en-US" sz="674" dirty="0"/>
          </a:p>
        </p:txBody>
      </p:sp>
      <p:sp>
        <p:nvSpPr>
          <p:cNvPr id="46" name="Shape 39"/>
          <p:cNvSpPr/>
          <p:nvPr/>
        </p:nvSpPr>
        <p:spPr>
          <a:xfrm>
            <a:off x="4195167" y="4480554"/>
            <a:ext cx="701873" cy="223242"/>
          </a:xfrm>
          <a:prstGeom prst="roundRect">
            <a:avLst/>
          </a:prstGeom>
          <a:solidFill>
            <a:srgbClr val="38BDF8">
              <a:alpha val="1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0892" y="4556457"/>
            <a:ext cx="71438" cy="7143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409480" y="4530561"/>
            <a:ext cx="38754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SK_LUTA</a:t>
            </a:r>
            <a:endParaRPr lang="en-US" sz="674" dirty="0"/>
          </a:p>
        </p:txBody>
      </p:sp>
      <p:sp>
        <p:nvSpPr>
          <p:cNvPr id="49" name="Shape 41"/>
          <p:cNvSpPr/>
          <p:nvPr/>
        </p:nvSpPr>
        <p:spPr>
          <a:xfrm>
            <a:off x="4968478" y="4480554"/>
            <a:ext cx="757238" cy="223242"/>
          </a:xfrm>
          <a:prstGeom prst="roundRect">
            <a:avLst/>
          </a:prstGeom>
          <a:solidFill>
            <a:srgbClr val="38BDF8">
              <a:alpha val="1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203" y="4549313"/>
            <a:ext cx="71438" cy="7143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182791" y="4523417"/>
            <a:ext cx="44291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SK_TEMPO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70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75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475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FATO_RESULTADO_LUTA registra o desfecho de cada confronto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102984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resultado de cada luta é armazenado por lutador com indicador binário de vitória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561970"/>
            <a:ext cx="4586288" cy="3166467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1561970"/>
            <a:ext cx="4586288" cy="376833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71500" y="1931659"/>
            <a:ext cx="4586288" cy="7144"/>
          </a:xfrm>
          <a:prstGeom prst="rect">
            <a:avLst/>
          </a:prstGeom>
          <a:solidFill>
            <a:srgbClr val="EAED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682521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0119" y="1669126"/>
            <a:ext cx="15394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FATO_RESULTADO_LUTA</a:t>
            </a:r>
            <a:endParaRPr lang="en-US" sz="88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064711"/>
            <a:ext cx="285750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844" y="2045959"/>
            <a:ext cx="168999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SK_LUTADOR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2725843" y="2046852"/>
            <a:ext cx="1126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INTEGER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3852518" y="2053996"/>
            <a:ext cx="11266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DIM_LUTADOR</a:t>
            </a:r>
            <a:endParaRPr lang="en-US" sz="72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2437972"/>
            <a:ext cx="285750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5844" y="2419220"/>
            <a:ext cx="168999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SK_LUTA</a:t>
            </a:r>
            <a:endParaRPr lang="en-US" sz="784" dirty="0"/>
          </a:p>
        </p:txBody>
      </p:sp>
      <p:sp>
        <p:nvSpPr>
          <p:cNvPr id="18" name="Text 12"/>
          <p:cNvSpPr/>
          <p:nvPr/>
        </p:nvSpPr>
        <p:spPr>
          <a:xfrm>
            <a:off x="2725843" y="2420113"/>
            <a:ext cx="1126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INTEGER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3852518" y="2427256"/>
            <a:ext cx="11266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DIM_LUTA</a:t>
            </a:r>
            <a:endParaRPr lang="en-US" sz="72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2811233"/>
            <a:ext cx="285750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35844" y="2792481"/>
            <a:ext cx="168999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SK_EVENTO</a:t>
            </a:r>
            <a:endParaRPr lang="en-US" sz="784" dirty="0"/>
          </a:p>
        </p:txBody>
      </p:sp>
      <p:sp>
        <p:nvSpPr>
          <p:cNvPr id="22" name="Text 15"/>
          <p:cNvSpPr/>
          <p:nvPr/>
        </p:nvSpPr>
        <p:spPr>
          <a:xfrm>
            <a:off x="2725843" y="2793374"/>
            <a:ext cx="1126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INTEGER</a:t>
            </a:r>
            <a:endParaRPr lang="en-US" sz="727" dirty="0"/>
          </a:p>
        </p:txBody>
      </p:sp>
      <p:sp>
        <p:nvSpPr>
          <p:cNvPr id="23" name="Text 16"/>
          <p:cNvSpPr/>
          <p:nvPr/>
        </p:nvSpPr>
        <p:spPr>
          <a:xfrm>
            <a:off x="3852518" y="2800517"/>
            <a:ext cx="11266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DIM_EVENTO</a:t>
            </a:r>
            <a:endParaRPr lang="en-US" sz="727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184494"/>
            <a:ext cx="285750" cy="1000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35844" y="3165742"/>
            <a:ext cx="168999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SK_METODO</a:t>
            </a:r>
            <a:endParaRPr lang="en-US" sz="784" dirty="0"/>
          </a:p>
        </p:txBody>
      </p:sp>
      <p:sp>
        <p:nvSpPr>
          <p:cNvPr id="26" name="Text 18"/>
          <p:cNvSpPr/>
          <p:nvPr/>
        </p:nvSpPr>
        <p:spPr>
          <a:xfrm>
            <a:off x="2725843" y="3166635"/>
            <a:ext cx="1126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INTEGER</a:t>
            </a:r>
            <a:endParaRPr lang="en-US" sz="727" dirty="0"/>
          </a:p>
        </p:txBody>
      </p:sp>
      <p:sp>
        <p:nvSpPr>
          <p:cNvPr id="27" name="Text 19"/>
          <p:cNvSpPr/>
          <p:nvPr/>
        </p:nvSpPr>
        <p:spPr>
          <a:xfrm>
            <a:off x="3852518" y="3173778"/>
            <a:ext cx="11266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DIM_METODO</a:t>
            </a:r>
            <a:endParaRPr lang="en-US" sz="727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3557755"/>
            <a:ext cx="285750" cy="1000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35844" y="3539003"/>
            <a:ext cx="168999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FL_VENCEDOR</a:t>
            </a:r>
            <a:endParaRPr lang="en-US" sz="784" dirty="0"/>
          </a:p>
        </p:txBody>
      </p:sp>
      <p:sp>
        <p:nvSpPr>
          <p:cNvPr id="30" name="Text 21"/>
          <p:cNvSpPr/>
          <p:nvPr/>
        </p:nvSpPr>
        <p:spPr>
          <a:xfrm>
            <a:off x="2725843" y="3539896"/>
            <a:ext cx="1126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NUMBER(1)</a:t>
            </a:r>
            <a:endParaRPr lang="en-US" sz="727" dirty="0"/>
          </a:p>
        </p:txBody>
      </p:sp>
      <p:sp>
        <p:nvSpPr>
          <p:cNvPr id="31" name="Text 22"/>
          <p:cNvSpPr/>
          <p:nvPr/>
        </p:nvSpPr>
        <p:spPr>
          <a:xfrm>
            <a:off x="3852518" y="3547039"/>
            <a:ext cx="11266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 de Vitória</a:t>
            </a:r>
            <a:endParaRPr lang="en-US" sz="727" dirty="0"/>
          </a:p>
        </p:txBody>
      </p:sp>
      <p:sp>
        <p:nvSpPr>
          <p:cNvPr id="32" name="Shape 23"/>
          <p:cNvSpPr/>
          <p:nvPr/>
        </p:nvSpPr>
        <p:spPr>
          <a:xfrm>
            <a:off x="5514975" y="1561970"/>
            <a:ext cx="3057525" cy="1187648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4"/>
          <p:cNvSpPr/>
          <p:nvPr/>
        </p:nvSpPr>
        <p:spPr>
          <a:xfrm>
            <a:off x="5693569" y="1740564"/>
            <a:ext cx="2700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 FL_VENCEDOR</a:t>
            </a:r>
            <a:endParaRPr lang="en-US" sz="834" dirty="0"/>
          </a:p>
        </p:txBody>
      </p:sp>
      <p:sp>
        <p:nvSpPr>
          <p:cNvPr id="34" name="Text 25"/>
          <p:cNvSpPr/>
          <p:nvPr/>
        </p:nvSpPr>
        <p:spPr>
          <a:xfrm>
            <a:off x="6628507" y="2020956"/>
            <a:ext cx="1482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36" dirty="0"/>
          </a:p>
        </p:txBody>
      </p:sp>
      <p:sp>
        <p:nvSpPr>
          <p:cNvPr id="35" name="Text 26"/>
          <p:cNvSpPr/>
          <p:nvPr/>
        </p:nvSpPr>
        <p:spPr>
          <a:xfrm>
            <a:off x="6493669" y="2435293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VENCEU</a:t>
            </a:r>
            <a:endParaRPr lang="en-US" sz="683" dirty="0"/>
          </a:p>
        </p:txBody>
      </p:sp>
      <p:sp>
        <p:nvSpPr>
          <p:cNvPr id="36" name="Text 27"/>
          <p:cNvSpPr/>
          <p:nvPr/>
        </p:nvSpPr>
        <p:spPr>
          <a:xfrm>
            <a:off x="7280374" y="2020956"/>
            <a:ext cx="2303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436" dirty="0"/>
          </a:p>
        </p:txBody>
      </p:sp>
      <p:sp>
        <p:nvSpPr>
          <p:cNvPr id="37" name="Text 28"/>
          <p:cNvSpPr/>
          <p:nvPr/>
        </p:nvSpPr>
        <p:spPr>
          <a:xfrm>
            <a:off x="7197328" y="2435293"/>
            <a:ext cx="3964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PERDEU</a:t>
            </a:r>
            <a:endParaRPr lang="en-US" sz="683" dirty="0"/>
          </a:p>
        </p:txBody>
      </p:sp>
      <p:sp>
        <p:nvSpPr>
          <p:cNvPr id="38" name="Shape 29"/>
          <p:cNvSpPr/>
          <p:nvPr/>
        </p:nvSpPr>
        <p:spPr>
          <a:xfrm>
            <a:off x="5514975" y="2913924"/>
            <a:ext cx="3057525" cy="625078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0"/>
          <p:cNvSpPr/>
          <p:nvPr/>
        </p:nvSpPr>
        <p:spPr>
          <a:xfrm>
            <a:off x="5514975" y="2913924"/>
            <a:ext cx="28575" cy="62507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1"/>
          <p:cNvSpPr/>
          <p:nvPr/>
        </p:nvSpPr>
        <p:spPr>
          <a:xfrm>
            <a:off x="5657850" y="3056799"/>
            <a:ext cx="27717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PRIMÁRIA COMPOSTA</a:t>
            </a:r>
            <a:endParaRPr lang="en-US" sz="683" dirty="0"/>
          </a:p>
        </p:txBody>
      </p:sp>
      <p:sp>
        <p:nvSpPr>
          <p:cNvPr id="41" name="Text 32"/>
          <p:cNvSpPr/>
          <p:nvPr/>
        </p:nvSpPr>
        <p:spPr>
          <a:xfrm>
            <a:off x="5657850" y="3235393"/>
            <a:ext cx="27717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(SK_LUTADOR, SK_LUTA, SK_EVENTO, SK_METODO)</a:t>
            </a:r>
            <a:endParaRPr lang="en-US" sz="780" dirty="0"/>
          </a:p>
        </p:txBody>
      </p:sp>
      <p:sp>
        <p:nvSpPr>
          <p:cNvPr id="42" name="Text 33"/>
          <p:cNvSpPr/>
          <p:nvPr/>
        </p:nvSpPr>
        <p:spPr>
          <a:xfrm>
            <a:off x="5514975" y="3718322"/>
            <a:ext cx="3057525" cy="21967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Análises Habilitadas</a:t>
            </a:r>
            <a:endParaRPr lang="en-US" sz="942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4975" y="4056757"/>
            <a:ext cx="142875" cy="1143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743575" y="4045148"/>
            <a:ext cx="21216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Taxas de vitória por precisão de golpes</a:t>
            </a:r>
            <a:endParaRPr lang="en-US" sz="834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4975" y="4279999"/>
            <a:ext cx="142875" cy="1143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743575" y="4268391"/>
            <a:ext cx="17930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da vantagem de alcance</a:t>
            </a:r>
            <a:endParaRPr lang="en-US" sz="834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4975" y="4503241"/>
            <a:ext cx="142875" cy="11430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743575" y="4491633"/>
            <a:ext cx="19270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Vitórias por método (KO, SUB, DEC)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6188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6188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exploratória revela padrões estatísticos nos dados brutos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117271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Médias e modas calculadas sobre 7.482 lutas válidas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504820"/>
            <a:ext cx="1914525" cy="1134070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357313" y="1619120"/>
            <a:ext cx="342900" cy="3429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8" y="170484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0853" y="2047745"/>
            <a:ext cx="83581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45,3%</a:t>
            </a:r>
            <a:endParaRPr lang="en-US" sz="1808" dirty="0"/>
          </a:p>
        </p:txBody>
      </p:sp>
      <p:sp>
        <p:nvSpPr>
          <p:cNvPr id="11" name="Text 7"/>
          <p:cNvSpPr/>
          <p:nvPr/>
        </p:nvSpPr>
        <p:spPr>
          <a:xfrm>
            <a:off x="1030486" y="2388859"/>
            <a:ext cx="9965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STRIKING %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2600325" y="1504820"/>
            <a:ext cx="1914525" cy="1134070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386138" y="1619120"/>
            <a:ext cx="342900" cy="3429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147" y="1704845"/>
            <a:ext cx="192881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34320" y="2047745"/>
            <a:ext cx="8465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40,8%</a:t>
            </a:r>
            <a:endParaRPr lang="en-US" sz="1808" dirty="0"/>
          </a:p>
        </p:txBody>
      </p:sp>
      <p:sp>
        <p:nvSpPr>
          <p:cNvPr id="16" name="Text 11"/>
          <p:cNvSpPr/>
          <p:nvPr/>
        </p:nvSpPr>
        <p:spPr>
          <a:xfrm>
            <a:off x="3003947" y="2388859"/>
            <a:ext cx="11072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TAKEDOWN %</a:t>
            </a:r>
            <a:endParaRPr lang="en-US" sz="727" dirty="0"/>
          </a:p>
        </p:txBody>
      </p:sp>
      <p:sp>
        <p:nvSpPr>
          <p:cNvPr id="17" name="Shape 12"/>
          <p:cNvSpPr/>
          <p:nvPr/>
        </p:nvSpPr>
        <p:spPr>
          <a:xfrm>
            <a:off x="4629150" y="1504820"/>
            <a:ext cx="1914525" cy="1134070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5414963" y="1619120"/>
            <a:ext cx="342900" cy="3429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688" y="1704845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1555" y="2047745"/>
            <a:ext cx="56971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2,35</a:t>
            </a:r>
            <a:endParaRPr lang="en-US" sz="1808" dirty="0"/>
          </a:p>
        </p:txBody>
      </p:sp>
      <p:sp>
        <p:nvSpPr>
          <p:cNvPr id="21" name="Text 15"/>
          <p:cNvSpPr/>
          <p:nvPr/>
        </p:nvSpPr>
        <p:spPr>
          <a:xfrm>
            <a:off x="5091708" y="2388859"/>
            <a:ext cx="9894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DE ROUNDS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6657975" y="1504820"/>
            <a:ext cx="1914525" cy="1134070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7443788" y="1619120"/>
            <a:ext cx="342900" cy="3429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081" y="1704845"/>
            <a:ext cx="214313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84852" y="2047745"/>
            <a:ext cx="46077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70"</a:t>
            </a:r>
            <a:endParaRPr lang="en-US" sz="1808" dirty="0"/>
          </a:p>
        </p:txBody>
      </p:sp>
      <p:sp>
        <p:nvSpPr>
          <p:cNvPr id="26" name="Text 19"/>
          <p:cNvSpPr/>
          <p:nvPr/>
        </p:nvSpPr>
        <p:spPr>
          <a:xfrm>
            <a:off x="7190184" y="2388859"/>
            <a:ext cx="8501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 ALCANCE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571500" y="2767478"/>
            <a:ext cx="4629150" cy="2143125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910353"/>
            <a:ext cx="4329113" cy="18430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86400" y="2767478"/>
            <a:ext cx="3086100" cy="2233147"/>
          </a:xfrm>
          <a:prstGeom prst="rect">
            <a:avLst/>
          </a:prstGeom>
          <a:solidFill>
            <a:srgbClr val="F59E0B">
              <a:alpha val="10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0700" y="3136860"/>
            <a:ext cx="128588" cy="128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00725" y="3123465"/>
            <a:ext cx="15894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Observação Crítica: TD%</a:t>
            </a:r>
            <a:endParaRPr lang="en-US" sz="885" dirty="0"/>
          </a:p>
        </p:txBody>
      </p:sp>
      <p:sp>
        <p:nvSpPr>
          <p:cNvPr id="32" name="Text 23"/>
          <p:cNvSpPr/>
          <p:nvPr/>
        </p:nvSpPr>
        <p:spPr>
          <a:xfrm>
            <a:off x="5600700" y="3364567"/>
            <a:ext cx="2857500" cy="128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alto índice de nulos (</a:t>
            </a:r>
            <a:r>
              <a:rPr lang="en-US" sz="78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na precisão de takedowns (TD%) se deve a rounds onde </a:t>
            </a: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takedown foi tentado</a:t>
            </a: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
 Esses registros foram convertidos para NULL para preservar a integridade da média, evitando distorções por zeros artificiais.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95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6188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6188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no Oracle 21c com triggers e sequences automáticas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117271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DW foi implementado com geração automática de surrogate keys via triggers Oracle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5187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7244" y="1576257"/>
            <a:ext cx="19520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DATABASE 21C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571500" y="2008454"/>
            <a:ext cx="3821906" cy="1555552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51329"/>
            <a:ext cx="144661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7617" y="2122754"/>
            <a:ext cx="33414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Sequences &amp; Triggers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937617" y="2315635"/>
            <a:ext cx="334148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automática de chaves primárias (Surrogate Keys) ao inserir novos registros.</a:t>
            </a:r>
            <a:endParaRPr lang="en-US" sz="780" dirty="0"/>
          </a:p>
        </p:txBody>
      </p:sp>
      <p:sp>
        <p:nvSpPr>
          <p:cNvPr id="13" name="Shape 8"/>
          <p:cNvSpPr/>
          <p:nvPr/>
        </p:nvSpPr>
        <p:spPr>
          <a:xfrm>
            <a:off x="937617" y="2658535"/>
            <a:ext cx="3341489" cy="776883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9"/>
          <p:cNvSpPr/>
          <p:nvPr/>
        </p:nvSpPr>
        <p:spPr>
          <a:xfrm>
            <a:off x="937617" y="2658535"/>
            <a:ext cx="21431" cy="776883"/>
          </a:xfrm>
          <a:prstGeom prst="rect">
            <a:avLst/>
          </a:prstGeom>
          <a:solidFill>
            <a:srgbClr val="4CC4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937617" y="2658535"/>
            <a:ext cx="3341489" cy="77688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TRIGGER</a:t>
            </a:r>
            <a:r>
              <a:rPr lang="en-US" sz="621" dirty="0">
                <a:solidFill>
                  <a:srgbClr val="E2E8F0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TRG_PK_DIM_LUTA
 </a:t>
            </a:r>
            <a:r>
              <a:rPr lang="en-US" sz="621" dirty="0">
                <a:solidFill>
                  <a:srgbClr val="C678DD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INSERT ON</a:t>
            </a:r>
            <a:r>
              <a:rPr lang="en-US" sz="621" dirty="0">
                <a:solidFill>
                  <a:srgbClr val="E2E8F0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DIM_LUTA
 </a:t>
            </a:r>
            <a:r>
              <a:rPr lang="en-US" sz="621" dirty="0">
                <a:solidFill>
                  <a:srgbClr val="C678DD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BEGIN</a:t>
            </a:r>
            <a:r>
              <a:rPr lang="en-US" sz="621" dirty="0">
                <a:solidFill>
                  <a:srgbClr val="E2E8F0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 :NEW.SK_LUTA := SEQ_PK.NEXTVAL;
 </a:t>
            </a:r>
            <a:r>
              <a:rPr lang="en-US" sz="621" dirty="0">
                <a:solidFill>
                  <a:srgbClr val="C678DD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r>
              <a:rPr lang="en-US" sz="621" dirty="0">
                <a:solidFill>
                  <a:srgbClr val="E2E8F0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571500" y="3635443"/>
            <a:ext cx="3821906" cy="737592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78318"/>
            <a:ext cx="96441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9397" y="3749743"/>
            <a:ext cx="33897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&amp; Integridade</a:t>
            </a:r>
            <a:endParaRPr lang="en-US" sz="784" dirty="0"/>
          </a:p>
        </p:txBody>
      </p:sp>
      <p:sp>
        <p:nvSpPr>
          <p:cNvPr id="19" name="Text 13"/>
          <p:cNvSpPr/>
          <p:nvPr/>
        </p:nvSpPr>
        <p:spPr>
          <a:xfrm>
            <a:off x="889397" y="3955126"/>
            <a:ext cx="24163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Índices em todas as Foreign Keys e constraints</a:t>
            </a:r>
            <a:endParaRPr lang="en-US" sz="780" dirty="0"/>
          </a:p>
        </p:txBody>
      </p:sp>
      <p:sp>
        <p:nvSpPr>
          <p:cNvPr id="20" name="Text 14"/>
          <p:cNvSpPr/>
          <p:nvPr/>
        </p:nvSpPr>
        <p:spPr>
          <a:xfrm>
            <a:off x="3305770" y="3944410"/>
            <a:ext cx="9001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DEFERRABLE</a:t>
            </a:r>
            <a:endParaRPr lang="en-US" sz="780" dirty="0"/>
          </a:p>
        </p:txBody>
      </p:sp>
      <p:sp>
        <p:nvSpPr>
          <p:cNvPr id="21" name="Text 15"/>
          <p:cNvSpPr/>
          <p:nvPr/>
        </p:nvSpPr>
        <p:spPr>
          <a:xfrm>
            <a:off x="889397" y="4105145"/>
            <a:ext cx="1391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consistência imediata.</a:t>
            </a:r>
            <a:endParaRPr lang="en-US" sz="78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1585187"/>
            <a:ext cx="150019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86338" y="1576257"/>
            <a:ext cx="21556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 &amp; LIMPEZA (PYTHON)</a:t>
            </a:r>
            <a:endParaRPr lang="en-US" sz="1090" dirty="0"/>
          </a:p>
        </p:txBody>
      </p:sp>
      <p:sp>
        <p:nvSpPr>
          <p:cNvPr id="24" name="Shape 17"/>
          <p:cNvSpPr/>
          <p:nvPr/>
        </p:nvSpPr>
        <p:spPr>
          <a:xfrm>
            <a:off x="4750594" y="2008454"/>
            <a:ext cx="228600" cy="228600"/>
          </a:xfrm>
          <a:prstGeom prst="ellipse">
            <a:avLst/>
          </a:prstGeom>
          <a:solidFill>
            <a:srgbClr val="38BDF8">
              <a:alpha val="20000"/>
            </a:srgbClr>
          </a:solidFill>
          <a:ln w="18288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4750594" y="200845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26" name="Shape 19"/>
          <p:cNvSpPr/>
          <p:nvPr/>
        </p:nvSpPr>
        <p:spPr>
          <a:xfrm>
            <a:off x="5122069" y="2008454"/>
            <a:ext cx="3450431" cy="487561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5236369" y="2094179"/>
            <a:ext cx="32218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Nulos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5236369" y="2269201"/>
            <a:ext cx="12090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lutadores com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6445448" y="2260271"/>
            <a:ext cx="7200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REACH = "--"</a:t>
            </a:r>
            <a:endParaRPr lang="en-US" sz="727" dirty="0"/>
          </a:p>
        </p:txBody>
      </p:sp>
      <p:sp>
        <p:nvSpPr>
          <p:cNvPr id="30" name="Text 23"/>
          <p:cNvSpPr/>
          <p:nvPr/>
        </p:nvSpPr>
        <p:spPr>
          <a:xfrm>
            <a:off x="7165544" y="2269201"/>
            <a:ext cx="10054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mapear suas lutas.</a:t>
            </a:r>
            <a:endParaRPr lang="en-US" sz="727" dirty="0"/>
          </a:p>
        </p:txBody>
      </p:sp>
      <p:sp>
        <p:nvSpPr>
          <p:cNvPr id="31" name="Shape 24"/>
          <p:cNvSpPr/>
          <p:nvPr/>
        </p:nvSpPr>
        <p:spPr>
          <a:xfrm>
            <a:off x="4750594" y="2572810"/>
            <a:ext cx="228600" cy="228600"/>
          </a:xfrm>
          <a:prstGeom prst="ellipse">
            <a:avLst/>
          </a:prstGeom>
          <a:solidFill>
            <a:srgbClr val="38BDF8">
              <a:alpha val="20000"/>
            </a:srgbClr>
          </a:solidFill>
          <a:ln w="18288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/>
          <p:nvPr/>
        </p:nvSpPr>
        <p:spPr>
          <a:xfrm>
            <a:off x="4750594" y="257281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83" dirty="0"/>
          </a:p>
        </p:txBody>
      </p:sp>
      <p:sp>
        <p:nvSpPr>
          <p:cNvPr id="33" name="Shape 26"/>
          <p:cNvSpPr/>
          <p:nvPr/>
        </p:nvSpPr>
        <p:spPr>
          <a:xfrm>
            <a:off x="5122069" y="2572810"/>
            <a:ext cx="3450431" cy="594717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5236369" y="2658535"/>
            <a:ext cx="32218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Filtragem em Cascata</a:t>
            </a:r>
            <a:endParaRPr lang="en-US" sz="784" dirty="0"/>
          </a:p>
        </p:txBody>
      </p:sp>
      <p:sp>
        <p:nvSpPr>
          <p:cNvPr id="35" name="Text 28"/>
          <p:cNvSpPr/>
          <p:nvPr/>
        </p:nvSpPr>
        <p:spPr>
          <a:xfrm>
            <a:off x="5236369" y="2824628"/>
            <a:ext cx="32218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Remover lutadores sem alcance e excluir todas as lutas onde eles participaram.</a:t>
            </a:r>
            <a:endParaRPr lang="en-US" sz="727" dirty="0"/>
          </a:p>
        </p:txBody>
      </p:sp>
      <p:sp>
        <p:nvSpPr>
          <p:cNvPr id="36" name="Shape 29"/>
          <p:cNvSpPr/>
          <p:nvPr/>
        </p:nvSpPr>
        <p:spPr>
          <a:xfrm>
            <a:off x="4750594" y="3238965"/>
            <a:ext cx="228600" cy="228600"/>
          </a:xfrm>
          <a:prstGeom prst="ellipse">
            <a:avLst/>
          </a:prstGeom>
          <a:solidFill>
            <a:srgbClr val="38BDF8">
              <a:alpha val="20000"/>
            </a:srgbClr>
          </a:solidFill>
          <a:ln w="18288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4750594" y="32389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38" name="Shape 31"/>
          <p:cNvSpPr/>
          <p:nvPr/>
        </p:nvSpPr>
        <p:spPr>
          <a:xfrm>
            <a:off x="5122069" y="3238965"/>
            <a:ext cx="3450431" cy="782241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2"/>
          <p:cNvSpPr/>
          <p:nvPr/>
        </p:nvSpPr>
        <p:spPr>
          <a:xfrm>
            <a:off x="5236369" y="3324690"/>
            <a:ext cx="32218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Transformação de Strings</a:t>
            </a:r>
            <a:endParaRPr lang="en-US" sz="784" dirty="0"/>
          </a:p>
        </p:txBody>
      </p:sp>
      <p:sp>
        <p:nvSpPr>
          <p:cNvPr id="40" name="Text 33"/>
          <p:cNvSpPr/>
          <p:nvPr/>
        </p:nvSpPr>
        <p:spPr>
          <a:xfrm>
            <a:off x="5236369" y="3490782"/>
            <a:ext cx="32218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Converter campos "X of Y" em colunas numéricas separadas (Landed/Attempted).</a:t>
            </a:r>
            <a:endParaRPr lang="en-US" sz="727" dirty="0"/>
          </a:p>
        </p:txBody>
      </p:sp>
      <p:sp>
        <p:nvSpPr>
          <p:cNvPr id="41" name="Shape 34"/>
          <p:cNvSpPr/>
          <p:nvPr/>
        </p:nvSpPr>
        <p:spPr>
          <a:xfrm>
            <a:off x="5236369" y="3776532"/>
            <a:ext cx="1062996" cy="144661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5"/>
          <p:cNvSpPr/>
          <p:nvPr/>
        </p:nvSpPr>
        <p:spPr>
          <a:xfrm>
            <a:off x="5236369" y="3776532"/>
            <a:ext cx="106299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"10 of 20" → 10, 20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4750594" y="4092643"/>
            <a:ext cx="228600" cy="228600"/>
          </a:xfrm>
          <a:prstGeom prst="ellipse">
            <a:avLst/>
          </a:prstGeom>
          <a:solidFill>
            <a:srgbClr val="38BDF8">
              <a:alpha val="20000"/>
            </a:srgbClr>
          </a:solidFill>
          <a:ln w="18288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7"/>
          <p:cNvSpPr/>
          <p:nvPr/>
        </p:nvSpPr>
        <p:spPr>
          <a:xfrm>
            <a:off x="4750594" y="40926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45" name="Shape 38"/>
          <p:cNvSpPr/>
          <p:nvPr/>
        </p:nvSpPr>
        <p:spPr>
          <a:xfrm>
            <a:off x="5122069" y="4092643"/>
            <a:ext cx="3450431" cy="660797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9"/>
          <p:cNvSpPr/>
          <p:nvPr/>
        </p:nvSpPr>
        <p:spPr>
          <a:xfrm>
            <a:off x="5236369" y="4178368"/>
            <a:ext cx="32218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Arquivos</a:t>
            </a:r>
            <a:endParaRPr lang="en-US" sz="784" dirty="0"/>
          </a:p>
        </p:txBody>
      </p:sp>
      <p:sp>
        <p:nvSpPr>
          <p:cNvPr id="47" name="Text 40"/>
          <p:cNvSpPr/>
          <p:nvPr/>
        </p:nvSpPr>
        <p:spPr>
          <a:xfrm>
            <a:off x="5236369" y="4344460"/>
            <a:ext cx="32218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Exportar datasets limpos prontos para carga no Oracle.</a:t>
            </a:r>
            <a:endParaRPr lang="en-US" sz="727" dirty="0"/>
          </a:p>
        </p:txBody>
      </p:sp>
      <p:sp>
        <p:nvSpPr>
          <p:cNvPr id="48" name="Shape 41"/>
          <p:cNvSpPr/>
          <p:nvPr/>
        </p:nvSpPr>
        <p:spPr>
          <a:xfrm>
            <a:off x="5236369" y="4508767"/>
            <a:ext cx="1371628" cy="144661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2"/>
          <p:cNvSpPr/>
          <p:nvPr/>
        </p:nvSpPr>
        <p:spPr>
          <a:xfrm>
            <a:off x="5236369" y="4508767"/>
            <a:ext cx="1371628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ufc_fight_stats_clean.csv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75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8475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DW está pronto para responder às 10 perguntas sobre fatores técnicos de vitória no UFC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102984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Considerações finais e próximos passos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561970"/>
            <a:ext cx="2524116" cy="3152905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1561970"/>
            <a:ext cx="2524116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088472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4707731"/>
            <a:ext cx="2524116" cy="7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71500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734313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0125" y="1733420"/>
            <a:ext cx="17805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FOI CONSTRUÍDO</a:t>
            </a:r>
            <a:endParaRPr lang="en-US" sz="98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742950" y="2170974"/>
            <a:ext cx="87511" cy="314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6186" y="2142399"/>
            <a:ext cx="2007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Warehouse com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Schema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implementado no Oracle 21c.</a:t>
            </a:r>
            <a:endParaRPr lang="en-US" sz="834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742950" y="2628174"/>
            <a:ext cx="100013" cy="4857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8688" y="2599599"/>
            <a:ext cx="19954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consolidada com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7.482 lutas válidas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36.188 registros de estatísticas.</a:t>
            </a:r>
            <a:endParaRPr lang="en-US" sz="834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742950" y="3256824"/>
            <a:ext cx="100013" cy="3143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28688" y="3228249"/>
            <a:ext cx="19954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histórica completa de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1993 a 2026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742950" y="3714024"/>
            <a:ext cx="112514" cy="3143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41189" y="3685449"/>
            <a:ext cx="1982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dimensional com 5 dimensões e 2 tabelas fato.</a:t>
            </a:r>
            <a:endParaRPr lang="en-US" sz="834" dirty="0"/>
          </a:p>
        </p:txBody>
      </p:sp>
      <p:sp>
        <p:nvSpPr>
          <p:cNvPr id="22" name="Shape 14"/>
          <p:cNvSpPr/>
          <p:nvPr/>
        </p:nvSpPr>
        <p:spPr>
          <a:xfrm>
            <a:off x="3309928" y="1561970"/>
            <a:ext cx="2524116" cy="3152905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5"/>
          <p:cNvSpPr/>
          <p:nvPr/>
        </p:nvSpPr>
        <p:spPr>
          <a:xfrm>
            <a:off x="3309928" y="1561970"/>
            <a:ext cx="2524116" cy="2857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6"/>
          <p:cNvSpPr/>
          <p:nvPr/>
        </p:nvSpPr>
        <p:spPr>
          <a:xfrm>
            <a:off x="5826900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7"/>
          <p:cNvSpPr/>
          <p:nvPr/>
        </p:nvSpPr>
        <p:spPr>
          <a:xfrm>
            <a:off x="3309928" y="4707731"/>
            <a:ext cx="2524116" cy="7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8"/>
          <p:cNvSpPr/>
          <p:nvPr/>
        </p:nvSpPr>
        <p:spPr>
          <a:xfrm>
            <a:off x="3309928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1378" y="1734313"/>
            <a:ext cx="171450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738553" y="1733420"/>
            <a:ext cx="9001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</a:t>
            </a:r>
            <a:endParaRPr lang="en-US" sz="987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3481378" y="2170974"/>
            <a:ext cx="100013" cy="4857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667116" y="2142399"/>
            <a:ext cx="19954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trabalho identifica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associações estatísticas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relações de causalidade direta.</a:t>
            </a:r>
            <a:endParaRPr lang="en-US" sz="834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3481378" y="2799624"/>
            <a:ext cx="125016" cy="48577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692119" y="2771049"/>
            <a:ext cx="19704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Fatores subjetivos (estratégia, condicionamento) não estão nos dados.</a:t>
            </a:r>
            <a:endParaRPr lang="en-US" sz="834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3481378" y="3428274"/>
            <a:ext cx="125016" cy="4857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692119" y="3399699"/>
            <a:ext cx="19704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Remoção de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44,4% dos lutadores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falta de dados de alcance (foco em eventos antigos).</a:t>
            </a:r>
            <a:endParaRPr lang="en-US" sz="834" dirty="0"/>
          </a:p>
        </p:txBody>
      </p:sp>
      <p:sp>
        <p:nvSpPr>
          <p:cNvPr id="35" name="Shape 23"/>
          <p:cNvSpPr/>
          <p:nvPr/>
        </p:nvSpPr>
        <p:spPr>
          <a:xfrm>
            <a:off x="6048356" y="1561970"/>
            <a:ext cx="2524144" cy="3152905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24"/>
          <p:cNvSpPr/>
          <p:nvPr/>
        </p:nvSpPr>
        <p:spPr>
          <a:xfrm>
            <a:off x="6048356" y="1561970"/>
            <a:ext cx="2524144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25"/>
          <p:cNvSpPr/>
          <p:nvPr/>
        </p:nvSpPr>
        <p:spPr>
          <a:xfrm>
            <a:off x="8565356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26"/>
          <p:cNvSpPr/>
          <p:nvPr/>
        </p:nvSpPr>
        <p:spPr>
          <a:xfrm>
            <a:off x="6048356" y="4707731"/>
            <a:ext cx="2524144" cy="7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27"/>
          <p:cNvSpPr/>
          <p:nvPr/>
        </p:nvSpPr>
        <p:spPr>
          <a:xfrm>
            <a:off x="6048356" y="1561970"/>
            <a:ext cx="7144" cy="315290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9806" y="1734313"/>
            <a:ext cx="171450" cy="1714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476981" y="1733420"/>
            <a:ext cx="14251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987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6219806" y="2170974"/>
            <a:ext cx="112514" cy="485775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418045" y="2142399"/>
            <a:ext cx="198300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Executar as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consultas SQL analíticas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DW para responder às perguntas.</a:t>
            </a:r>
            <a:endParaRPr lang="en-US" sz="834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6219806" y="2799624"/>
            <a:ext cx="125016" cy="485775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430547" y="2771049"/>
            <a:ext cx="19705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o impacto relativo de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Striking vs. Grappling vs. Reach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vitória.</a:t>
            </a:r>
            <a:endParaRPr lang="en-US" sz="834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6219806" y="3428274"/>
            <a:ext cx="100013" cy="314325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405544" y="3399699"/>
            <a:ext cx="1995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a </a:t>
            </a:r>
            <a:r>
              <a:rPr lang="en-US" sz="7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temporal</a:t>
            </a: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precisão de golpes (1993–2026).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389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42863" cy="53899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794379"/>
            <a:ext cx="7829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 e referências bibliográficas utilizadas no projeto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139065"/>
            <a:ext cx="8001000" cy="65150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28650" y="1196215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79" y="1253365"/>
            <a:ext cx="166092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1196215"/>
            <a:ext cx="39951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GRECO1899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1028700" y="1346234"/>
            <a:ext cx="399514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scrape_ufc_stats — Scraper automatizado de estatísticas do UFC.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028700" y="1583401"/>
            <a:ext cx="39951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Acesso em: 03 mar. 2026 | github.com/Greco1899/scrape_ufc_stats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571500" y="1862007"/>
            <a:ext cx="8001000" cy="65150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28650" y="1919157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76307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700" y="1919157"/>
            <a:ext cx="31682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UFC.COM.BR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1028700" y="2069176"/>
            <a:ext cx="316825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casa do Ultimate Fighting Championship no Brasil.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1028700" y="2306343"/>
            <a:ext cx="31682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Acesso em: 03 mar. 2026 | www.ufc.com.br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571500" y="2584949"/>
            <a:ext cx="8001000" cy="65150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28650" y="2642099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516" y="2699249"/>
            <a:ext cx="150019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8700" y="2642099"/>
            <a:ext cx="438057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</a:t>
            </a:r>
            <a:endParaRPr lang="en-US" sz="683" dirty="0"/>
          </a:p>
        </p:txBody>
      </p:sp>
      <p:sp>
        <p:nvSpPr>
          <p:cNvPr id="23" name="Text 17"/>
          <p:cNvSpPr/>
          <p:nvPr/>
        </p:nvSpPr>
        <p:spPr>
          <a:xfrm>
            <a:off x="1028700" y="2792118"/>
            <a:ext cx="438057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um Data Warehouse?</a:t>
            </a:r>
            <a:endParaRPr lang="en-US" sz="942" dirty="0"/>
          </a:p>
        </p:txBody>
      </p:sp>
      <p:sp>
        <p:nvSpPr>
          <p:cNvPr id="24" name="Text 18"/>
          <p:cNvSpPr/>
          <p:nvPr/>
        </p:nvSpPr>
        <p:spPr>
          <a:xfrm>
            <a:off x="1028700" y="3029285"/>
            <a:ext cx="43805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Acesso em: 07 mar. 2026 | oracle.com/br/database/what-is-a-data-warehouse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571500" y="3307891"/>
            <a:ext cx="8001000" cy="65150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628650" y="3365041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422191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8700" y="3365041"/>
            <a:ext cx="396051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UFCSTATS.COM</a:t>
            </a:r>
            <a:endParaRPr lang="en-US" sz="683" dirty="0"/>
          </a:p>
        </p:txBody>
      </p:sp>
      <p:sp>
        <p:nvSpPr>
          <p:cNvPr id="29" name="Text 22"/>
          <p:cNvSpPr/>
          <p:nvPr/>
        </p:nvSpPr>
        <p:spPr>
          <a:xfrm>
            <a:off x="1028700" y="3515060"/>
            <a:ext cx="39605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 | UFC — Base oficial de estatísticas.</a:t>
            </a:r>
            <a:endParaRPr lang="en-US" sz="942" dirty="0"/>
          </a:p>
        </p:txBody>
      </p:sp>
      <p:sp>
        <p:nvSpPr>
          <p:cNvPr id="30" name="Text 23"/>
          <p:cNvSpPr/>
          <p:nvPr/>
        </p:nvSpPr>
        <p:spPr>
          <a:xfrm>
            <a:off x="1028700" y="3752227"/>
            <a:ext cx="3960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Acesso em: 03 mar. 2026 | ufcstats.com/statistics/events/completed</a:t>
            </a:r>
            <a:endParaRPr lang="en-US" sz="727" dirty="0"/>
          </a:p>
        </p:txBody>
      </p:sp>
      <p:sp>
        <p:nvSpPr>
          <p:cNvPr id="31" name="Shape 24"/>
          <p:cNvSpPr/>
          <p:nvPr/>
        </p:nvSpPr>
        <p:spPr>
          <a:xfrm>
            <a:off x="571500" y="4030833"/>
            <a:ext cx="8001000" cy="65150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5"/>
          <p:cNvSpPr/>
          <p:nvPr/>
        </p:nvSpPr>
        <p:spPr>
          <a:xfrm>
            <a:off x="628650" y="4087983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084" y="4145133"/>
            <a:ext cx="192881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28700" y="4087983"/>
            <a:ext cx="39004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</a:t>
            </a:r>
            <a:endParaRPr lang="en-US" sz="683" dirty="0"/>
          </a:p>
        </p:txBody>
      </p:sp>
      <p:sp>
        <p:nvSpPr>
          <p:cNvPr id="35" name="Text 27"/>
          <p:cNvSpPr/>
          <p:nvPr/>
        </p:nvSpPr>
        <p:spPr>
          <a:xfrm>
            <a:off x="1028700" y="4238002"/>
            <a:ext cx="39004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Star Schema?</a:t>
            </a:r>
            <a:endParaRPr lang="en-US" sz="942" dirty="0"/>
          </a:p>
        </p:txBody>
      </p:sp>
      <p:sp>
        <p:nvSpPr>
          <p:cNvPr id="36" name="Text 28"/>
          <p:cNvSpPr/>
          <p:nvPr/>
        </p:nvSpPr>
        <p:spPr>
          <a:xfrm>
            <a:off x="1028700" y="4475169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Acesso em: 06 mar. 2026 | databricks.com/blog/what-is-star-schema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Office PowerPoint</Application>
  <PresentationFormat>On-screen Show (16:9)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Inter</vt:lpstr>
      <vt:lpstr>JetBrains Mono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João Pedro De Castro Laranjeira Rocha</cp:lastModifiedBy>
  <cp:revision>2</cp:revision>
  <dcterms:created xsi:type="dcterms:W3CDTF">2026-03-11T02:36:05Z</dcterms:created>
  <dcterms:modified xsi:type="dcterms:W3CDTF">2026-03-11T13:28:30Z</dcterms:modified>
</cp:coreProperties>
</file>